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7" r:id="rId10"/>
    <p:sldId id="269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7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27789-316E-4DF1-B745-59265EBCF8C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6DFA7B-711C-42B8-86A9-E1655D2A7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491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3B681-7805-4D13-91E0-D00CE4B3804B}" type="datetime1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CDFDD-2F40-4947-A91F-DB521C4C63AF}" type="datetime1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AF807-00AF-475C-9951-17AB0C07FE0C}" type="datetime1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DB84D-A328-4351-95DA-C977D632A59F}" type="datetime1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6147-6D05-4E56-87F7-7482A0CB5638}" type="datetime1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FBE2B-EF14-48EA-ACE5-4AB16527524E}" type="datetime1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75C59-BCFE-402D-BDAE-2C6EE267CDDB}" type="datetime1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C03C9-560B-4769-B02A-4EED2BC49C85}" type="datetime1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BCE93-5CC5-4E11-A040-7B58344ED17A}" type="datetime1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04C493-3CC2-4DBC-A05F-9519F344AD36}" type="datetime1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A5391-EB33-4777-9135-EEF016A7B893}" type="datetime1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C76CC0-6B70-4F01-960C-D33EE306C4C8}" type="datetime1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1530662"/>
            <a:ext cx="7772400" cy="1470025"/>
          </a:xfrm>
        </p:spPr>
        <p:txBody>
          <a:bodyPr/>
          <a:lstStyle/>
          <a:p>
            <a:pPr>
              <a:defRPr sz="5400" b="1">
                <a:solidFill>
                  <a:srgbClr val="1F4E79"/>
                </a:solidFill>
              </a:defRPr>
            </a:pPr>
            <a:r>
              <a:rPr dirty="0" err="1"/>
              <a:t>FlakeHound</a:t>
            </a:r>
            <a:r>
              <a:rPr dirty="0"/>
              <a:t>++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95600" y="3404416"/>
            <a:ext cx="6400800" cy="1752600"/>
          </a:xfrm>
        </p:spPr>
        <p:txBody>
          <a:bodyPr>
            <a:normAutofit fontScale="92500" lnSpcReduction="20000"/>
          </a:bodyPr>
          <a:lstStyle/>
          <a:p>
            <a:pPr>
              <a:defRPr sz="2400">
                <a:solidFill>
                  <a:srgbClr val="444444"/>
                </a:solidFill>
              </a:defRPr>
            </a:pPr>
            <a:r>
              <a:rPr dirty="0"/>
              <a:t>A C++ Tool for Detecting Flaky Tests &amp; </a:t>
            </a:r>
            <a:r>
              <a:rPr lang="en-US" dirty="0"/>
              <a:t>Automating</a:t>
            </a:r>
          </a:p>
          <a:p>
            <a:pPr>
              <a:defRPr sz="2400">
                <a:solidFill>
                  <a:srgbClr val="444444"/>
                </a:solidFill>
              </a:defRPr>
            </a:pPr>
            <a:r>
              <a:rPr lang="en-US" dirty="0"/>
              <a:t>Test Analysis</a:t>
            </a:r>
          </a:p>
          <a:p>
            <a:pPr>
              <a:defRPr sz="2400">
                <a:solidFill>
                  <a:srgbClr val="444444"/>
                </a:solidFill>
              </a:defRPr>
            </a:pPr>
            <a:r>
              <a:rPr lang="en-US" dirty="0"/>
              <a:t>Supervisor: Md. Saeed </a:t>
            </a:r>
            <a:r>
              <a:rPr lang="en-US" dirty="0" err="1"/>
              <a:t>Siddik</a:t>
            </a:r>
            <a:endParaRPr dirty="0"/>
          </a:p>
          <a:p>
            <a:pPr>
              <a:defRPr sz="2400">
                <a:solidFill>
                  <a:srgbClr val="444444"/>
                </a:solidFill>
              </a:defRPr>
            </a:pPr>
            <a:endParaRPr dirty="0"/>
          </a:p>
          <a:p>
            <a:pPr>
              <a:defRPr sz="2400">
                <a:solidFill>
                  <a:srgbClr val="444444"/>
                </a:solidFill>
              </a:defRPr>
            </a:pPr>
            <a:r>
              <a:rPr dirty="0" err="1"/>
              <a:t>Shohidur</a:t>
            </a:r>
            <a:r>
              <a:rPr dirty="0"/>
              <a:t> Rahman (Roll: 1637)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89672-BF14-B885-7C63-7DE7E9C53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F4E79"/>
                </a:solidFill>
              </a:defRPr>
            </a:pPr>
            <a:r>
              <a:rPr dirty="0"/>
              <a:t>The Problem: Flaky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dirty="0"/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Tests sometimes pass, sometimes fail </a:t>
            </a:r>
            <a:r>
              <a:rPr lang="en-US" dirty="0"/>
              <a:t>without code changes</a:t>
            </a:r>
            <a:endParaRPr dirty="0"/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Wastes time </a:t>
            </a:r>
            <a:r>
              <a:rPr lang="en-US" dirty="0"/>
              <a:t>,</a:t>
            </a:r>
            <a:r>
              <a:rPr dirty="0"/>
              <a:t> developers debug fake problems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Breaks CI/CD trust</a:t>
            </a:r>
            <a:r>
              <a:rPr lang="en-US" dirty="0"/>
              <a:t>,</a:t>
            </a:r>
            <a:r>
              <a:rPr dirty="0"/>
              <a:t> can't rely on test results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Hard to find why tests are flaky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Reasons: timing issues,</a:t>
            </a:r>
            <a:r>
              <a:rPr lang="en-US" dirty="0"/>
              <a:t> thread/concurrency bugs,</a:t>
            </a:r>
            <a:r>
              <a:rPr dirty="0"/>
              <a:t> random values, environment settings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197069-1B97-993D-567F-26F511068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4595" y="274321"/>
            <a:ext cx="676281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lang="en-US" sz="4400" dirty="0"/>
              <a:t>The </a:t>
            </a:r>
            <a:r>
              <a:rPr sz="4400" dirty="0"/>
              <a:t>Solution: </a:t>
            </a:r>
            <a:r>
              <a:rPr sz="4400" dirty="0" err="1"/>
              <a:t>FlakeHound</a:t>
            </a:r>
            <a:r>
              <a:rPr sz="4400" dirty="0"/>
              <a:t>++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50955" y="1645920"/>
            <a:ext cx="3657600" cy="411480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789342" y="1828800"/>
            <a:ext cx="278082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4472C4"/>
                </a:solidFill>
              </a:defRPr>
            </a:pPr>
            <a:r>
              <a:rPr sz="2800"/>
              <a:t>Dynamic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5275" y="2468881"/>
            <a:ext cx="310896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Run tests many times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Track which tests fail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Count how often they fail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Find flaky patterns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17978" y="1645920"/>
            <a:ext cx="3657600" cy="411480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827" y="1828800"/>
            <a:ext cx="231390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D7D31"/>
                </a:solidFill>
              </a:defRPr>
            </a:pPr>
            <a:r>
              <a:rPr sz="2800"/>
              <a:t>Static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2298" y="2468880"/>
            <a:ext cx="310896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Read C++ code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Look for risky code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Find flakiness causes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Tell why tests fail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375564-702B-818B-426E-6ADBF0C6E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53419" y="274321"/>
            <a:ext cx="668516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sz="4400"/>
              <a:t>How It Works - Step by Step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072640" y="1671484"/>
            <a:ext cx="1463040" cy="1101212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/>
              <a:t>INPUT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 dirty="0"/>
              <a:t>Test Code</a:t>
            </a:r>
            <a:br>
              <a:rPr sz="1400" dirty="0"/>
            </a:br>
            <a:r>
              <a:rPr lang="en-US" sz="1400" dirty="0"/>
              <a:t>+</a:t>
            </a:r>
            <a:r>
              <a:rPr sz="1400" dirty="0"/>
              <a:t> XML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535680" y="2122292"/>
            <a:ext cx="274320" cy="330364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810000" y="1671484"/>
            <a:ext cx="1463040" cy="1101212"/>
          </a:xfrm>
          <a:prstGeom prst="roundRect">
            <a:avLst/>
          </a:prstGeom>
          <a:solidFill>
            <a:srgbClr val="5CB85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RUNNER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Run Tests</a:t>
            </a:r>
            <a:br>
              <a:rPr sz="1400"/>
            </a:br>
            <a:r>
              <a:rPr sz="1400"/>
              <a:t>N Times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273040" y="2122292"/>
            <a:ext cx="274320" cy="330364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547360" y="1671484"/>
            <a:ext cx="1463040" cy="1101212"/>
          </a:xfrm>
          <a:prstGeom prst="roundRect">
            <a:avLst/>
          </a:prstGeom>
          <a:solidFill>
            <a:srgbClr val="ED7D31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PARSER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Extract</a:t>
            </a:r>
            <a:br>
              <a:rPr sz="1400"/>
            </a:br>
            <a:r>
              <a:rPr sz="1400"/>
              <a:t>Results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010400" y="2122292"/>
            <a:ext cx="274320" cy="330364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284720" y="1671484"/>
            <a:ext cx="1463040" cy="1101212"/>
          </a:xfrm>
          <a:prstGeom prst="roundRect">
            <a:avLst/>
          </a:prstGeom>
          <a:solidFill>
            <a:srgbClr val="9B59B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ANALYZER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Find</a:t>
            </a:r>
            <a:br>
              <a:rPr sz="1400"/>
            </a:br>
            <a:r>
              <a:rPr sz="1400"/>
              <a:t>Issues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47760" y="2122292"/>
            <a:ext cx="274320" cy="330364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22080" y="1671484"/>
            <a:ext cx="1463040" cy="1101212"/>
          </a:xfrm>
          <a:prstGeom prst="roundRect">
            <a:avLst/>
          </a:prstGeom>
          <a:solidFill>
            <a:srgbClr val="3498DB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REPORTS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Show</a:t>
            </a:r>
            <a:br>
              <a:rPr sz="1400"/>
            </a:br>
            <a:r>
              <a:rPr sz="1400"/>
              <a:t>Causes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5705" y="3182046"/>
            <a:ext cx="900634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444444"/>
                </a:solidFill>
              </a:defRPr>
            </a:pPr>
            <a:r>
              <a:rPr lang="en-US" sz="2800" dirty="0"/>
              <a:t>Simple Flow:</a:t>
            </a:r>
          </a:p>
          <a:p>
            <a:pPr>
              <a:defRPr sz="2000" b="1">
                <a:solidFill>
                  <a:srgbClr val="444444"/>
                </a:solidFill>
              </a:defRPr>
            </a:pPr>
            <a:endParaRPr lang="en-US" sz="1200" dirty="0"/>
          </a:p>
          <a:p>
            <a:pPr marL="457200" indent="-457200">
              <a:buAutoNum type="arabicPeriod"/>
              <a:defRPr sz="2000" b="1">
                <a:solidFill>
                  <a:srgbClr val="444444"/>
                </a:solidFill>
              </a:defRPr>
            </a:pPr>
            <a:r>
              <a:rPr lang="en-US" sz="2400" dirty="0"/>
              <a:t>Provide test executable (+ XML for </a:t>
            </a:r>
            <a:r>
              <a:rPr lang="en-US" sz="2400" dirty="0" err="1"/>
              <a:t>GoogleTest</a:t>
            </a:r>
            <a:r>
              <a:rPr lang="en-US" sz="2400" dirty="0"/>
              <a:t> projects)</a:t>
            </a:r>
          </a:p>
          <a:p>
            <a:pPr>
              <a:defRPr sz="2000" b="1">
                <a:solidFill>
                  <a:srgbClr val="444444"/>
                </a:solidFill>
              </a:defRPr>
            </a:pPr>
            <a:endParaRPr lang="en-US" sz="1000" dirty="0"/>
          </a:p>
          <a:p>
            <a:pPr>
              <a:defRPr sz="2000" b="1">
                <a:solidFill>
                  <a:srgbClr val="444444"/>
                </a:solidFill>
              </a:defRPr>
            </a:pPr>
            <a:r>
              <a:rPr lang="en-US" sz="2400" dirty="0"/>
              <a:t>2. Run tests multiple times</a:t>
            </a:r>
          </a:p>
          <a:p>
            <a:pPr>
              <a:defRPr sz="2000" b="1">
                <a:solidFill>
                  <a:srgbClr val="444444"/>
                </a:solidFill>
              </a:defRPr>
            </a:pPr>
            <a:endParaRPr lang="en-US" sz="1000" dirty="0"/>
          </a:p>
          <a:p>
            <a:pPr>
              <a:defRPr sz="2000" b="1">
                <a:solidFill>
                  <a:srgbClr val="444444"/>
                </a:solidFill>
              </a:defRPr>
            </a:pPr>
            <a:r>
              <a:rPr lang="en-US" sz="2400" dirty="0"/>
              <a:t>3. Parse and collect all test results (pass/fail data)</a:t>
            </a:r>
          </a:p>
          <a:p>
            <a:pPr>
              <a:defRPr sz="2000" b="1">
                <a:solidFill>
                  <a:srgbClr val="444444"/>
                </a:solidFill>
              </a:defRPr>
            </a:pPr>
            <a:endParaRPr lang="en-US" sz="1000" dirty="0"/>
          </a:p>
          <a:p>
            <a:pPr>
              <a:defRPr sz="2000" b="1">
                <a:solidFill>
                  <a:srgbClr val="444444"/>
                </a:solidFill>
              </a:defRPr>
            </a:pPr>
            <a:r>
              <a:rPr lang="en-US" sz="2400" dirty="0"/>
              <a:t>4. Analyze code and results to identify flaky tests (static + dynamic analysis)</a:t>
            </a:r>
          </a:p>
          <a:p>
            <a:pPr>
              <a:defRPr sz="2000" b="1">
                <a:solidFill>
                  <a:srgbClr val="444444"/>
                </a:solidFill>
              </a:defRPr>
            </a:pPr>
            <a:endParaRPr lang="en-US" sz="1000" dirty="0"/>
          </a:p>
          <a:p>
            <a:pPr>
              <a:defRPr sz="2000" b="1">
                <a:solidFill>
                  <a:srgbClr val="444444"/>
                </a:solidFill>
              </a:defRPr>
            </a:pPr>
            <a:r>
              <a:rPr lang="en-US" sz="2400" dirty="0"/>
              <a:t>5. Generate easy-to-read reports with explanations</a:t>
            </a:r>
            <a:endParaRPr sz="2400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BAF5F9-E3F6-2902-64E6-206659E88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37845" y="274321"/>
            <a:ext cx="431631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5CB85C"/>
                </a:solidFill>
              </a:defRPr>
            </a:pPr>
            <a:r>
              <a:rPr sz="4400" dirty="0"/>
              <a:t>What I</a:t>
            </a:r>
            <a:r>
              <a:rPr lang="en-US" sz="4400" dirty="0"/>
              <a:t> have done</a:t>
            </a:r>
            <a:endParaRPr sz="4400" dirty="0"/>
          </a:p>
        </p:txBody>
      </p:sp>
      <p:sp>
        <p:nvSpPr>
          <p:cNvPr id="3" name="TextBox 2"/>
          <p:cNvSpPr txBox="1"/>
          <p:nvPr/>
        </p:nvSpPr>
        <p:spPr>
          <a:xfrm>
            <a:off x="1868129" y="1218217"/>
            <a:ext cx="9360310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Test Runner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Runs tests N times, captures results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Aggregates pass/fail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sz="2400" b="1" dirty="0"/>
              <a:t>Flakiness Calculator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Wilson confidence interval (95%)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Categorizes: stable, </a:t>
            </a:r>
            <a:r>
              <a:rPr lang="en-US" sz="2200" dirty="0" err="1"/>
              <a:t>mildly_flaky</a:t>
            </a:r>
            <a:r>
              <a:rPr lang="en-US" sz="2200" dirty="0"/>
              <a:t>, </a:t>
            </a:r>
            <a:r>
              <a:rPr lang="en-US" sz="2200" dirty="0" err="1"/>
              <a:t>highly_flaky</a:t>
            </a:r>
            <a:r>
              <a:rPr lang="en-US" sz="2200" dirty="0"/>
              <a:t>, </a:t>
            </a:r>
            <a:r>
              <a:rPr lang="en-US" sz="2200" dirty="0" err="1"/>
              <a:t>always_failing</a:t>
            </a:r>
            <a:endParaRPr lang="en-US" sz="2200" dirty="0"/>
          </a:p>
          <a:p>
            <a:pPr lvl="1"/>
            <a:endParaRPr lang="en-US" sz="2200" dirty="0"/>
          </a:p>
          <a:p>
            <a:r>
              <a:rPr lang="en-US" sz="2400" b="1" dirty="0"/>
              <a:t>Report Generator</a:t>
            </a: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Formats text reports with statistics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Displays Wilson scores</a:t>
            </a:r>
          </a:p>
          <a:p>
            <a:pPr lvl="1"/>
            <a:endParaRPr lang="en-US" sz="2200" dirty="0"/>
          </a:p>
          <a:p>
            <a:r>
              <a:rPr lang="en-US" sz="2400" b="1" dirty="0"/>
              <a:t>Demo Test Suite</a:t>
            </a: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2 stable + 2 flaky tests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Proves detection works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6AA60-7CF6-818D-29EA-379E10211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5CB85C"/>
                </a:solidFill>
              </a:defRPr>
            </a:pPr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 Output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9B738-CE54-DCFC-A1D1-93C1EA037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mtClean="0">
                <a:solidFill>
                  <a:schemeClr val="tx1">
                    <a:alpha val="80000"/>
                  </a:schemeClr>
                </a:solidFill>
              </a:rPr>
              <a:pPr defTabSz="914400">
                <a:spcAft>
                  <a:spcPts val="600"/>
                </a:spcAft>
              </a:pPr>
              <a:t>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9180A6-8EB4-083C-A5CA-90372811DF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865" y="0"/>
            <a:ext cx="3256163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FF9AD06-4B24-5FAB-A007-805764D15F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028" y="0"/>
            <a:ext cx="467788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69876" y="48179"/>
            <a:ext cx="305224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5CB85C"/>
                </a:solidFill>
              </a:defRPr>
            </a:pPr>
            <a:r>
              <a:rPr lang="en-US" sz="4400" dirty="0"/>
              <a:t>What’s Next</a:t>
            </a:r>
            <a:endParaRPr sz="4400" dirty="0"/>
          </a:p>
        </p:txBody>
      </p:sp>
      <p:sp>
        <p:nvSpPr>
          <p:cNvPr id="3" name="TextBox 2"/>
          <p:cNvSpPr txBox="1"/>
          <p:nvPr/>
        </p:nvSpPr>
        <p:spPr>
          <a:xfrm>
            <a:off x="1710607" y="868367"/>
            <a:ext cx="8196170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XML Parser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Parse </a:t>
            </a:r>
            <a:r>
              <a:rPr lang="en-US" sz="2200" dirty="0" err="1"/>
              <a:t>GoogleTest</a:t>
            </a:r>
            <a:r>
              <a:rPr lang="en-US" sz="2200" dirty="0"/>
              <a:t> XML output for real project (e.g., abseil-</a:t>
            </a:r>
            <a:r>
              <a:rPr lang="en-US" sz="2200" dirty="0" err="1"/>
              <a:t>cpp</a:t>
            </a:r>
            <a:r>
              <a:rPr lang="en-US" sz="22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Extract test names, status, timing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sz="2400" b="1" dirty="0"/>
              <a:t>Static Code Analysis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Build Lexer → AST → CFG pipeline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 Analyze both test code and production code</a:t>
            </a:r>
          </a:p>
          <a:p>
            <a:pPr lvl="1"/>
            <a:endParaRPr lang="en-US" sz="2200" dirty="0"/>
          </a:p>
          <a:p>
            <a:r>
              <a:rPr lang="en-US" sz="2400" b="1" dirty="0"/>
              <a:t>Machine Learning</a:t>
            </a: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Logistic regression with Stochastic Gradient Descent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Train on static+ dynamic features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Predict flakiness before running tests</a:t>
            </a:r>
          </a:p>
          <a:p>
            <a:pPr lvl="1"/>
            <a:endParaRPr lang="en-US" sz="2200" dirty="0"/>
          </a:p>
          <a:p>
            <a:r>
              <a:rPr lang="en-US" sz="2400" b="1" dirty="0"/>
              <a:t>Root Cause Explanation</a:t>
            </a: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Correlate dynamic failure with static patterns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883FF-94EA-B78F-3FE6-9F96A41D2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53475" y="274321"/>
            <a:ext cx="628505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sz="4400" dirty="0"/>
              <a:t>What </a:t>
            </a:r>
            <a:r>
              <a:rPr lang="en-US" sz="4400" dirty="0"/>
              <a:t>The</a:t>
            </a:r>
            <a:r>
              <a:rPr sz="4400" dirty="0"/>
              <a:t> Tool </a:t>
            </a:r>
            <a:r>
              <a:rPr lang="en-US" sz="4400" dirty="0"/>
              <a:t>Will Detect</a:t>
            </a:r>
            <a:endParaRPr sz="4400" dirty="0"/>
          </a:p>
        </p:txBody>
      </p:sp>
      <p:sp>
        <p:nvSpPr>
          <p:cNvPr id="3" name="Rounded Rectangle 2"/>
          <p:cNvSpPr/>
          <p:nvPr/>
        </p:nvSpPr>
        <p:spPr>
          <a:xfrm>
            <a:off x="1539050" y="1645920"/>
            <a:ext cx="3657600" cy="438912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76779" y="1818968"/>
            <a:ext cx="264527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D7D31"/>
                </a:solidFill>
              </a:defRPr>
            </a:pPr>
            <a:r>
              <a:rPr sz="2800" dirty="0"/>
              <a:t>Flakiness Causes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4936" y="2459048"/>
            <a:ext cx="3108960" cy="3313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Random numbers (no seed)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Sleep or wait calls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Environment variables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Time-based code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Shared global variables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Thread/concurrency issues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32839" y="1616424"/>
            <a:ext cx="3657600" cy="438912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48583" y="1799304"/>
            <a:ext cx="242611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4472C4"/>
                </a:solidFill>
              </a:defRPr>
            </a:pPr>
            <a:r>
              <a:rPr sz="2800"/>
              <a:t>Code Problems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7159" y="2439385"/>
            <a:ext cx="3108960" cy="297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Array out of bounds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Null pointer use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Memory leaks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Division by zero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Uninitialized variables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Missing return statements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F6EF5D-D2A8-35D8-C8FB-B180A01C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417496" y="274321"/>
            <a:ext cx="335700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sz="4400"/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4421" y="2158176"/>
            <a:ext cx="2850364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5CB85C"/>
                </a:solidFill>
              </a:defRPr>
            </a:pPr>
            <a:r>
              <a:rPr sz="3000" dirty="0"/>
              <a:t>What's Included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C++ and </a:t>
            </a:r>
            <a:r>
              <a:rPr sz="2200" dirty="0" err="1"/>
              <a:t>GoogleTest</a:t>
            </a:r>
            <a:endParaRPr sz="2200" dirty="0"/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Simple and fast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Find flaky tests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Explain why they fail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Easy to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16469" y="2158176"/>
            <a:ext cx="2850363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D9534F"/>
                </a:solidFill>
              </a:defRPr>
            </a:pPr>
            <a:r>
              <a:rPr sz="3000" dirty="0"/>
              <a:t>Not Included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Big complex libraries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Full compiler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Auto code fixing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Multiple languages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Fancy GUI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6EB711-C6BC-CCC5-27C1-F8563EA43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46334" y="2285998"/>
            <a:ext cx="489933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1F4E79"/>
                </a:solidFill>
              </a:defRPr>
            </a:pPr>
            <a:r>
              <a:rPr sz="6000" dirty="0"/>
              <a:t>Thank You!</a:t>
            </a:r>
            <a:endParaRPr lang="en-US" sz="6000" dirty="0"/>
          </a:p>
          <a:p>
            <a:br>
              <a:rPr lang="en-US" sz="2400" dirty="0"/>
            </a:br>
            <a:r>
              <a:rPr lang="en-US" sz="2400" dirty="0"/>
              <a:t>	Questions &amp; Feedback Welcome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76A63B-C2A8-CA3E-3700-A2D98588A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579</TotalTime>
  <Words>475</Words>
  <Application>Microsoft Office PowerPoint</Application>
  <PresentationFormat>Widescreen</PresentationFormat>
  <Paragraphs>119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FlakeHound++</vt:lpstr>
      <vt:lpstr>The Problem: Flaky Tests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 Rahman Rahi</cp:lastModifiedBy>
  <cp:revision>55</cp:revision>
  <dcterms:created xsi:type="dcterms:W3CDTF">2013-01-27T09:14:16Z</dcterms:created>
  <dcterms:modified xsi:type="dcterms:W3CDTF">2026-04-21T07:37:36Z</dcterms:modified>
  <cp:category/>
</cp:coreProperties>
</file>