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1530662"/>
            <a:ext cx="7772400" cy="1470025"/>
          </a:xfrm>
        </p:spPr>
        <p:txBody>
          <a:bodyPr/>
          <a:lstStyle/>
          <a:p>
            <a:pPr>
              <a:defRPr sz="5400" b="1">
                <a:solidFill>
                  <a:srgbClr val="1F4E79"/>
                </a:solidFill>
              </a:defRPr>
            </a:pPr>
            <a:r>
              <a:rPr dirty="0" err="1"/>
              <a:t>FlakeHound</a:t>
            </a:r>
            <a:r>
              <a:rPr dirty="0"/>
              <a:t>++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404416"/>
            <a:ext cx="6400800" cy="1752600"/>
          </a:xfrm>
        </p:spPr>
        <p:txBody>
          <a:bodyPr>
            <a:normAutofit lnSpcReduction="10000"/>
          </a:bodyPr>
          <a:lstStyle/>
          <a:p>
            <a:pPr>
              <a:defRPr sz="2400">
                <a:solidFill>
                  <a:srgbClr val="444444"/>
                </a:solidFill>
              </a:defRPr>
            </a:pPr>
            <a:r>
              <a:rPr dirty="0"/>
              <a:t>A C++ Tool for Detecting Flaky Tests &amp; </a:t>
            </a:r>
            <a:r>
              <a:rPr lang="en-US" dirty="0"/>
              <a:t>Automating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Test Analysis</a:t>
            </a: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dirty="0" err="1"/>
              <a:t>Shohidur</a:t>
            </a:r>
            <a:r>
              <a:rPr dirty="0"/>
              <a:t> Rahman (Roll: </a:t>
            </a:r>
            <a:r>
              <a:t>1637)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t>The Problem: Flaky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Tests sometimes pass, sometimes fail </a:t>
            </a:r>
            <a:r>
              <a:rPr lang="en-US" dirty="0"/>
              <a:t>without code changes</a:t>
            </a:r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Wastes time </a:t>
            </a:r>
            <a:r>
              <a:rPr lang="en-US" dirty="0"/>
              <a:t>,</a:t>
            </a:r>
            <a:r>
              <a:rPr dirty="0"/>
              <a:t> developers debug fake problems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Breaks CI/CD trust</a:t>
            </a:r>
            <a:r>
              <a:rPr lang="en-US" dirty="0"/>
              <a:t>,</a:t>
            </a:r>
            <a:r>
              <a:rPr dirty="0"/>
              <a:t> can't rely on test results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Hard to find why tests are flaky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Reasons: timing issues, random values, environment settings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4595" y="274321"/>
            <a:ext cx="676281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lang="en-US" sz="4400" dirty="0"/>
              <a:t>The </a:t>
            </a:r>
            <a:r>
              <a:rPr sz="4400" dirty="0"/>
              <a:t>Solution: </a:t>
            </a:r>
            <a:r>
              <a:rPr sz="4400" dirty="0" err="1"/>
              <a:t>FlakeHound</a:t>
            </a:r>
            <a:r>
              <a:rPr sz="4400" dirty="0"/>
              <a:t>++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50955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89342" y="1828800"/>
            <a:ext cx="27808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Dynamic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5275" y="2468881"/>
            <a:ext cx="310896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Run tests many times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Track which tests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Count how often they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flaky patterns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17978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827" y="1828800"/>
            <a:ext cx="23139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/>
              <a:t>Static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2298" y="2468880"/>
            <a:ext cx="31089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Read C++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Look for risky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flakiness causes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Tell why tests fail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53419" y="274321"/>
            <a:ext cx="668516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How It Works -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72640" y="1858296"/>
            <a:ext cx="1463040" cy="9144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INPUT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Test Code</a:t>
            </a:r>
            <a:br>
              <a:rPr sz="1400"/>
            </a:br>
            <a:r>
              <a:rPr sz="1400"/>
              <a:t>+ XML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53568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10000" y="1858296"/>
            <a:ext cx="1463040" cy="914400"/>
          </a:xfrm>
          <a:prstGeom prst="roundRect">
            <a:avLst/>
          </a:prstGeom>
          <a:solidFill>
            <a:srgbClr val="5CB85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RUNNER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Run Tests</a:t>
            </a:r>
            <a:br>
              <a:rPr sz="1400"/>
            </a:br>
            <a:r>
              <a:rPr sz="1400"/>
              <a:t>N Times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27304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47360" y="1858296"/>
            <a:ext cx="1463040" cy="914400"/>
          </a:xfrm>
          <a:prstGeom prst="roundRect">
            <a:avLst/>
          </a:prstGeom>
          <a:solidFill>
            <a:srgbClr val="ED7D31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PARSER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Extract</a:t>
            </a:r>
            <a:br>
              <a:rPr sz="1400"/>
            </a:br>
            <a:r>
              <a:rPr sz="1400"/>
              <a:t>Results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40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284720" y="1858296"/>
            <a:ext cx="1463040" cy="914400"/>
          </a:xfrm>
          <a:prstGeom prst="roundRect">
            <a:avLst/>
          </a:prstGeom>
          <a:solidFill>
            <a:srgbClr val="9B59B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ANALYZER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Find</a:t>
            </a:r>
            <a:br>
              <a:rPr sz="1400"/>
            </a:br>
            <a:r>
              <a:rPr sz="1400"/>
              <a:t>Issues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47760" y="2178336"/>
            <a:ext cx="274320" cy="27432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22080" y="1858296"/>
            <a:ext cx="1463040" cy="914400"/>
          </a:xfrm>
          <a:prstGeom prst="roundRect">
            <a:avLst/>
          </a:prstGeom>
          <a:solidFill>
            <a:srgbClr val="3498DB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REPORTS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Show</a:t>
            </a:r>
            <a:br>
              <a:rPr sz="1400"/>
            </a:br>
            <a:r>
              <a:rPr sz="1400"/>
              <a:t>Causes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9974" y="3348371"/>
            <a:ext cx="8829368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44444"/>
                </a:solidFill>
              </a:defRPr>
            </a:pPr>
            <a:r>
              <a:rPr sz="2000" dirty="0"/>
              <a:t>Simple Flow: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1. Give </a:t>
            </a:r>
            <a:r>
              <a:rPr lang="en-US" dirty="0"/>
              <a:t>the </a:t>
            </a:r>
            <a:r>
              <a:rPr dirty="0"/>
              <a:t>test code and test results (XML files)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2. Tool runs tests multiple times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3. Parse and collect all test results (pass/fail data)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4. </a:t>
            </a:r>
            <a:r>
              <a:rPr lang="en-US" dirty="0"/>
              <a:t>Analyze both the code and the results to identify flaky tests and risky code patterns (static &amp; dynamic analysis)</a:t>
            </a:r>
          </a:p>
          <a:p>
            <a:pPr>
              <a:spcBef>
                <a:spcPts val="600"/>
              </a:spcBef>
              <a:defRPr sz="1800">
                <a:solidFill>
                  <a:srgbClr val="444444"/>
                </a:solidFill>
              </a:defRPr>
            </a:pPr>
            <a:r>
              <a:rPr dirty="0"/>
              <a:t>5. Generate easy</a:t>
            </a:r>
            <a:r>
              <a:rPr lang="en-US" dirty="0"/>
              <a:t> </a:t>
            </a:r>
            <a:r>
              <a:rPr dirty="0"/>
              <a:t>to</a:t>
            </a:r>
            <a:r>
              <a:rPr lang="en-US" dirty="0"/>
              <a:t> </a:t>
            </a:r>
            <a:r>
              <a:rPr dirty="0"/>
              <a:t>read reports with explanations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1051" y="274321"/>
            <a:ext cx="52498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sz="4400" dirty="0"/>
              <a:t>What I </a:t>
            </a:r>
            <a:r>
              <a:rPr lang="en-US" sz="4400" dirty="0"/>
              <a:t>will</a:t>
            </a:r>
            <a:r>
              <a:rPr sz="4400" dirty="0"/>
              <a:t> </a:t>
            </a:r>
            <a:r>
              <a:rPr lang="en-US" sz="4400" dirty="0"/>
              <a:t>do</a:t>
            </a:r>
            <a:r>
              <a:rPr sz="4400" dirty="0"/>
              <a:t> - 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16425" y="1434528"/>
            <a:ext cx="926788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</a:t>
            </a:r>
            <a:r>
              <a:rPr lang="en-US" sz="2400" dirty="0"/>
              <a:t>Develop a small C++ codebase with a </a:t>
            </a:r>
            <a:r>
              <a:rPr lang="en-US" sz="2400" dirty="0" err="1"/>
              <a:t>GoogleTest</a:t>
            </a:r>
            <a:r>
              <a:rPr lang="en-US" sz="2400" dirty="0"/>
              <a:t> suite containing both stable and intentionally flaky test cases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Build a test runner that runs tests multiple times with different conditions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Write a </a:t>
            </a:r>
            <a:r>
              <a:rPr lang="en-US" sz="2400" dirty="0"/>
              <a:t>lightweight</a:t>
            </a:r>
            <a:r>
              <a:rPr sz="2400" dirty="0"/>
              <a:t> XML parser to read test results 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</a:t>
            </a:r>
            <a:r>
              <a:rPr lang="en-US" sz="2400" dirty="0"/>
              <a:t>Apply mathematical analysis to quantify the flakiness coefficient of each test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</a:t>
            </a:r>
            <a:r>
              <a:rPr lang="en-US" sz="2400" dirty="0"/>
              <a:t>Implement a lexical analyzer(</a:t>
            </a:r>
            <a:r>
              <a:rPr lang="en-US" sz="2400" dirty="0" err="1"/>
              <a:t>lexer</a:t>
            </a:r>
            <a:r>
              <a:rPr lang="en-US" sz="2400" dirty="0"/>
              <a:t>) , abstract syntax tree(AST) builder and control flow graph(CFG) generator as the foundation for later static checks</a:t>
            </a:r>
            <a:endParaRPr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1051" y="274321"/>
            <a:ext cx="52498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What I will do </a:t>
            </a:r>
            <a:r>
              <a:rPr sz="4400" dirty="0"/>
              <a:t>- 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1226" y="1306707"/>
            <a:ext cx="8599293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Check code for bugs (out of bounds, null pointers, memory leaks, etc.)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Look for flakiness patterns</a:t>
            </a:r>
            <a:r>
              <a:rPr lang="en-US" sz="2400" dirty="0"/>
              <a:t> like random usage without seeding, sleep based timing and environment/time dependencies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Add simple machine learning (logistic regression) to predict flaky tests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</a:t>
            </a:r>
            <a:r>
              <a:rPr lang="en-US" sz="2400" dirty="0"/>
              <a:t>Correlate dynamic test outcomes with static code findings to trace probable root causes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</a:t>
            </a:r>
            <a:r>
              <a:rPr lang="en-US" sz="2400" dirty="0"/>
              <a:t>Implement a command line interface (CLI) with simple commands</a:t>
            </a:r>
            <a:endParaRPr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1051" y="274321"/>
            <a:ext cx="52498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What I will do </a:t>
            </a:r>
            <a:r>
              <a:rPr sz="4400" dirty="0"/>
              <a:t>- 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68708" y="1523018"/>
            <a:ext cx="819617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Create clear reports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Write documentation explaining how to use the tool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Test the tool on demo project to prove it works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Show root causes </a:t>
            </a:r>
            <a:r>
              <a:rPr lang="en-US" sz="2400" dirty="0"/>
              <a:t>:</a:t>
            </a:r>
            <a:r>
              <a:rPr sz="2400" dirty="0"/>
              <a:t> explain </a:t>
            </a:r>
            <a:r>
              <a:rPr lang="en-US" sz="2400" dirty="0"/>
              <a:t>why</a:t>
            </a:r>
            <a:r>
              <a:rPr sz="2400" dirty="0"/>
              <a:t> each test is flaky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Deliver working tool + demo + complete documentation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6181" y="274321"/>
            <a:ext cx="617964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D9534F"/>
                </a:solidFill>
              </a:defRPr>
            </a:pPr>
            <a:r>
              <a:rPr sz="4400" dirty="0"/>
              <a:t>What I </a:t>
            </a:r>
            <a:r>
              <a:rPr lang="en-US" sz="4400" dirty="0"/>
              <a:t>will</a:t>
            </a:r>
            <a:r>
              <a:rPr sz="4400" dirty="0"/>
              <a:t> </a:t>
            </a:r>
            <a:r>
              <a:rPr lang="en-US" sz="4400" dirty="0"/>
              <a:t>not do </a:t>
            </a:r>
            <a:r>
              <a:rPr sz="4400" dirty="0"/>
              <a:t>- 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54078" y="1385365"/>
            <a:ext cx="876643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Use big heavy libraries (LLVM, Clang, SQLite, etc.) </a:t>
            </a:r>
            <a:r>
              <a:rPr lang="en-US" sz="2400" dirty="0"/>
              <a:t>-</a:t>
            </a:r>
            <a:r>
              <a:rPr sz="2400" dirty="0"/>
              <a:t> keeping it simple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Build a full C++ compiler </a:t>
            </a:r>
            <a:r>
              <a:rPr lang="en-US" sz="2400" dirty="0"/>
              <a:t>–</a:t>
            </a:r>
            <a:r>
              <a:rPr sz="2400" dirty="0"/>
              <a:t> </a:t>
            </a:r>
            <a:r>
              <a:rPr lang="en-US" sz="2400" dirty="0"/>
              <a:t>analysis will be function level , not full program</a:t>
            </a:r>
            <a:endParaRPr sz="2400" dirty="0"/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Auto</a:t>
            </a:r>
            <a:r>
              <a:rPr lang="en-US" sz="2400" dirty="0"/>
              <a:t> </a:t>
            </a:r>
            <a:r>
              <a:rPr sz="2400" dirty="0"/>
              <a:t>fix code </a:t>
            </a:r>
            <a:r>
              <a:rPr lang="en-US" sz="2400" dirty="0"/>
              <a:t>or tests </a:t>
            </a:r>
            <a:r>
              <a:rPr sz="2400" dirty="0"/>
              <a:t>- tool only finds and explains problems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Follow all security standards (MISRA/CERT) - just practical useful checks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Support many languages - focusing on C++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6180" y="274321"/>
            <a:ext cx="617964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D9534F"/>
                </a:solidFill>
              </a:defRPr>
            </a:pPr>
            <a:r>
              <a:rPr lang="en-US" sz="4400" dirty="0"/>
              <a:t>What I will not do </a:t>
            </a:r>
            <a:r>
              <a:rPr sz="4400" dirty="0"/>
              <a:t>- 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75419" y="1699998"/>
            <a:ext cx="937603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1. Make plugins for GitHub Actions or Jenkins - just making reports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2. Build a fancy GUI app - simple command line tool only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3. Train big ML models with datasets - just simple built-in regression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4. Replace advanced tools like sanitizers - </a:t>
            </a:r>
            <a:r>
              <a:rPr lang="en-US" sz="2400" dirty="0"/>
              <a:t>mine</a:t>
            </a:r>
            <a:r>
              <a:rPr sz="2400" dirty="0"/>
              <a:t> is a helper tool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rPr sz="2400" dirty="0"/>
              <a:t>5. </a:t>
            </a:r>
            <a:r>
              <a:rPr lang="en-US" sz="2400" dirty="0"/>
              <a:t>Implement additional compiler components beyond the minimal </a:t>
            </a:r>
            <a:r>
              <a:rPr lang="en-US" sz="2400" dirty="0" err="1"/>
              <a:t>lexer</a:t>
            </a:r>
            <a:r>
              <a:rPr lang="en-US" sz="2400" dirty="0"/>
              <a:t>, AST and CFG needed for static checks</a:t>
            </a:r>
            <a:endParaRPr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67850" y="274321"/>
            <a:ext cx="545630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 dirty="0"/>
              <a:t>What </a:t>
            </a:r>
            <a:r>
              <a:rPr lang="en-US" sz="4400" dirty="0"/>
              <a:t>The</a:t>
            </a:r>
            <a:r>
              <a:rPr sz="4400" dirty="0"/>
              <a:t> Tool Detects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39050" y="1645920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76779" y="1818968"/>
            <a:ext cx="26452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 dirty="0"/>
              <a:t>Flakiness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4936" y="2459048"/>
            <a:ext cx="310896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Random numbers (no seed)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Sleep or wait calls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Environment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Time-based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Shared global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Thread/concurrency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32839" y="1616424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48583" y="1799304"/>
            <a:ext cx="24261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Code Problems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7159" y="2439385"/>
            <a:ext cx="3108960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Array out of bounds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Null pointer use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Memory leaks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Division by zero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Uninitialized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Missing return statements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 dirty="0"/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Lightweight - Uses only C++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Smart analysis - Tracks data flow through </a:t>
            </a:r>
            <a:r>
              <a:rPr lang="en-US" dirty="0"/>
              <a:t>the</a:t>
            </a:r>
            <a:r>
              <a:rPr dirty="0"/>
              <a:t> code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Machine learning - Predicts which tests might be flaky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Clear output - Plain text reports anyone can read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Root causes - Tells exactly why tests fail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7496" y="274321"/>
            <a:ext cx="335700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4421" y="2158176"/>
            <a:ext cx="2850364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5CB85C"/>
                </a:solidFill>
              </a:defRPr>
            </a:pPr>
            <a:r>
              <a:rPr sz="3000" dirty="0"/>
              <a:t>What's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C++ and </a:t>
            </a:r>
            <a:r>
              <a:rPr sz="2200" dirty="0" err="1"/>
              <a:t>GoogleTest</a:t>
            </a:r>
            <a:endParaRPr sz="2200" dirty="0"/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Simple and fast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flaky tests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Explain why they fail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Easy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16469" y="2158176"/>
            <a:ext cx="2850363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9534F"/>
                </a:solidFill>
              </a:defRPr>
            </a:pPr>
            <a:r>
              <a:rPr sz="3000" dirty="0"/>
              <a:t>Not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Big complex libraries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Full compiler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Auto code fixing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Multiple languages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Fancy GUI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46334" y="2285998"/>
            <a:ext cx="48993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F4E79"/>
                </a:solidFill>
              </a:defRPr>
            </a:pPr>
            <a:r>
              <a:rPr sz="6000" dirty="0"/>
              <a:t>Thank You!</a:t>
            </a:r>
            <a:endParaRPr lang="en-US" sz="6000" dirty="0"/>
          </a:p>
          <a:p>
            <a:br>
              <a:rPr lang="en-US" sz="2400" dirty="0"/>
            </a:br>
            <a:r>
              <a:rPr lang="en-US" sz="2400" dirty="0"/>
              <a:t>	Questions &amp; Feedback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778</Words>
  <Application>Microsoft Office PowerPoint</Application>
  <PresentationFormat>Widescreen</PresentationFormat>
  <Paragraphs>107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FlakeHound++</vt:lpstr>
      <vt:lpstr>The Problem: Flaky Tests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Features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Rahman Rahi</cp:lastModifiedBy>
  <cp:revision>6</cp:revision>
  <dcterms:created xsi:type="dcterms:W3CDTF">2013-01-27T09:14:16Z</dcterms:created>
  <dcterms:modified xsi:type="dcterms:W3CDTF">2026-01-14T15:25:27Z</dcterms:modified>
  <cp:category/>
</cp:coreProperties>
</file>